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4"/>
  </p:sldMasterIdLst>
  <p:notesMasterIdLst>
    <p:notesMasterId r:id="rId16"/>
  </p:notesMasterIdLst>
  <p:handoutMasterIdLst>
    <p:handoutMasterId r:id="rId17"/>
  </p:handoutMasterIdLst>
  <p:sldIdLst>
    <p:sldId id="6289" r:id="rId5"/>
    <p:sldId id="7148" r:id="rId6"/>
    <p:sldId id="7157" r:id="rId7"/>
    <p:sldId id="7149" r:id="rId8"/>
    <p:sldId id="7150" r:id="rId9"/>
    <p:sldId id="7151" r:id="rId10"/>
    <p:sldId id="7152" r:id="rId11"/>
    <p:sldId id="7153" r:id="rId12"/>
    <p:sldId id="7154" r:id="rId13"/>
    <p:sldId id="7155" r:id="rId14"/>
    <p:sldId id="7156" r:id="rId15"/>
  </p:sldIdLst>
  <p:sldSz cx="12192000" cy="6858000"/>
  <p:notesSz cx="9928225" cy="679767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rdan Gledec" initials="GG" lastIdx="1" clrIdx="0">
    <p:extLst>
      <p:ext uri="{19B8F6BF-5375-455C-9EA6-DF929625EA0E}">
        <p15:presenceInfo xmlns:p15="http://schemas.microsoft.com/office/powerpoint/2012/main" userId="S::gledec@fer.hr::9f499ba0-be08-44a8-8a6f-8eab7220b7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ECB000"/>
    <a:srgbClr val="00003F"/>
    <a:srgbClr val="00002D"/>
    <a:srgbClr val="3B3B3B"/>
    <a:srgbClr val="BFBFBF"/>
    <a:srgbClr val="EBEAE8"/>
    <a:srgbClr val="363636"/>
    <a:srgbClr val="020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voje Pandžić" userId="3535b91d-e8ab-4c6e-a302-37cfa8170d81" providerId="ADAL" clId="{9A509650-EE38-4FEF-A0B5-D517DA062849}"/>
    <pc:docChg chg="modSld">
      <pc:chgData name="Hrvoje Pandžić" userId="3535b91d-e8ab-4c6e-a302-37cfa8170d81" providerId="ADAL" clId="{9A509650-EE38-4FEF-A0B5-D517DA062849}" dt="2025-02-27T14:37:40.400" v="57" actId="20577"/>
      <pc:docMkLst>
        <pc:docMk/>
      </pc:docMkLst>
      <pc:sldChg chg="modSp mod">
        <pc:chgData name="Hrvoje Pandžić" userId="3535b91d-e8ab-4c6e-a302-37cfa8170d81" providerId="ADAL" clId="{9A509650-EE38-4FEF-A0B5-D517DA062849}" dt="2025-02-27T14:26:49.033" v="6" actId="20577"/>
        <pc:sldMkLst>
          <pc:docMk/>
          <pc:sldMk cId="467346511" sldId="7164"/>
        </pc:sldMkLst>
        <pc:spChg chg="mod">
          <ac:chgData name="Hrvoje Pandžić" userId="3535b91d-e8ab-4c6e-a302-37cfa8170d81" providerId="ADAL" clId="{9A509650-EE38-4FEF-A0B5-D517DA062849}" dt="2025-02-27T14:26:49.033" v="6" actId="20577"/>
          <ac:spMkLst>
            <pc:docMk/>
            <pc:sldMk cId="467346511" sldId="7164"/>
            <ac:spMk id="3" creationId="{8F0F6F76-5CFB-1ADF-BFC5-F002DAA227E7}"/>
          </ac:spMkLst>
        </pc:spChg>
      </pc:sldChg>
      <pc:sldChg chg="modSp mod">
        <pc:chgData name="Hrvoje Pandžić" userId="3535b91d-e8ab-4c6e-a302-37cfa8170d81" providerId="ADAL" clId="{9A509650-EE38-4FEF-A0B5-D517DA062849}" dt="2025-02-27T14:37:40.400" v="57" actId="20577"/>
        <pc:sldMkLst>
          <pc:docMk/>
          <pc:sldMk cId="921431890" sldId="7167"/>
        </pc:sldMkLst>
        <pc:spChg chg="mod">
          <ac:chgData name="Hrvoje Pandžić" userId="3535b91d-e8ab-4c6e-a302-37cfa8170d81" providerId="ADAL" clId="{9A509650-EE38-4FEF-A0B5-D517DA062849}" dt="2025-02-27T14:37:40.400" v="57" actId="20577"/>
          <ac:spMkLst>
            <pc:docMk/>
            <pc:sldMk cId="921431890" sldId="7167"/>
            <ac:spMk id="3" creationId="{4A37E9F2-2608-70CB-3A97-513DA9B9C1F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FD482-B69E-4DD5-B941-11BCE126FA1D}" type="datetimeFigureOut">
              <a:rPr lang="hr-HR" smtClean="0"/>
              <a:t>3.1.2026.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03FDB-A49B-43CE-9AFA-BC3A4EE4CC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67345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A56C0-2A61-4948-B38C-965D33F4E329}" type="datetimeFigureOut">
              <a:rPr lang="hr-HR" smtClean="0"/>
              <a:t>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0032A-A6F4-4220-9ADA-2AE7933DC1F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054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749973"/>
            <a:ext cx="10791497" cy="445113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hr-HR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170568"/>
            <a:ext cx="10791497" cy="1269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2C6A0B49-8851-4372-9C14-A77FB03183F4}" type="datetime1">
              <a:rPr lang="hr-HR" smtClean="0"/>
              <a:t>3.1.2026.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8CA353-9329-42A9-ADC5-244549CBA5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35403" y="0"/>
            <a:ext cx="5756597" cy="6858000"/>
          </a:xfrm>
        </p:spPr>
        <p:txBody>
          <a:bodyPr/>
          <a:lstStyle/>
          <a:p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944" y="2682610"/>
            <a:ext cx="5244647" cy="303238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82944" y="504536"/>
            <a:ext cx="5243783" cy="196811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209CA4D2-D8CB-45F0-AF23-5CF4F892E90D}" type="datetime1">
              <a:rPr lang="hr-HR" smtClean="0"/>
              <a:t>3.1.2026.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06574-F938-48B1-8BFD-36BDB34132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5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2089" y="3601376"/>
            <a:ext cx="3328695" cy="222745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1" y="2707251"/>
            <a:ext cx="3332583" cy="74187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D3A4DA58-1A42-43E2-BAA5-902A6FA09D64}" type="datetime1">
              <a:rPr lang="hr-HR" smtClean="0"/>
              <a:t>3.1.2026.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38201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442928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047655" y="658762"/>
            <a:ext cx="3332583" cy="1809750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75140-D279-4AE9-A57D-9034D8EA8D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16" y="1938129"/>
            <a:ext cx="7268934" cy="4034045"/>
          </a:xfr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marL="0" indent="0">
              <a:buNone/>
              <a:defRPr lang="hr-HR" sz="3200" smtClean="0">
                <a:solidFill>
                  <a:srgbClr val="474747"/>
                </a:solidFill>
              </a:defRPr>
            </a:lvl1pPr>
          </a:lstStyle>
          <a:p>
            <a:pPr marL="228600" lvl="0" indent="-228600">
              <a:lnSpc>
                <a:spcPct val="120000"/>
              </a:lnSpc>
            </a:pPr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442928" y="496957"/>
            <a:ext cx="7272822" cy="12125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81E6BD04-CE4A-4821-8B2D-748E94DAB577}" type="datetime1">
              <a:rPr lang="hr-HR" smtClean="0"/>
              <a:t>3.1.2026.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52400" y="1"/>
            <a:ext cx="4018383" cy="5972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8E1428-ABA2-44FD-8B09-E1820FCCCB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3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EA6504F7-34A5-4CD4-86CE-4F2BAB4575DB}" type="datetime1">
              <a:rPr lang="hr-HR" smtClean="0"/>
              <a:t>3.1.2026.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A989896-E538-436D-B731-F8D7B75A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1153F-EC32-4DA8-BCC3-42EB9F8C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6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44D5B6B3-742C-49F8-A78B-F65A88979D8F}" type="datetime1">
              <a:rPr lang="hr-HR" smtClean="0"/>
              <a:t>3.1.2026.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10764836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B6D74-52BB-4D57-88CA-E3A621BA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94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9F97E708-C5D4-4069-A98E-51799BE2691A}" type="datetime1">
              <a:rPr lang="hr-HR" smtClean="0"/>
              <a:t>3.1.2026.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46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6" y="1704181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F7DCD-357E-4E95-A118-6D94B73A6D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76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7A9BB70B-B814-4A7F-9281-E754DDC73F92}" type="datetime1">
              <a:rPr lang="hr-HR" smtClean="0"/>
              <a:t>3.1.2026.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04188" y="1695450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D823A-034B-45D7-B4AF-163A8E9AB1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14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7B8770AD-6CCE-40AF-81A0-F4647088DACC}" type="datetime1">
              <a:rPr lang="hr-HR" smtClean="0"/>
              <a:t>3.1.2026.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39788" y="1713981"/>
            <a:ext cx="10763247" cy="419945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2D844CB-5A47-4207-9B24-46DA77E04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E20C9C-F54B-4C1E-8505-0D6B7A1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E45CF-A711-4D15-91B6-14FEBC310E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6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827CB759-CD69-4795-A56D-DA211CEF0CA9}" type="datetime1">
              <a:rPr lang="hr-HR" smtClean="0"/>
              <a:t>3.1.2026.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DA9828C-0F09-42F5-8A9C-5073EB039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104927-4214-4F19-B418-94C203F128C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9787" y="2322761"/>
            <a:ext cx="5256213" cy="359067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BD3EAC-EDFE-41C3-A36E-87A60FD7452E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4451" y="2322759"/>
            <a:ext cx="5204632" cy="3590679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CEE060-EA2F-4730-8EFD-299C92FC2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5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6700"/>
            <a:ext cx="10766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33869"/>
            <a:ext cx="5256212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412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9E893544-F369-4EA2-9802-1BA865814296}" type="datetime1">
              <a:rPr lang="hr-HR" smtClean="0"/>
              <a:t>3.1.2026.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17CA7F56-B6DF-4B72-B983-4ABF5EC376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125A28-7430-42EE-A541-AD2F86A7E0C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48412" y="2633868"/>
            <a:ext cx="5256213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E76327-F4EA-4207-8A05-31AD4ACBD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93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C76A3D7D-92CA-452C-B9D0-1DF31E7709A0}" type="datetime1">
              <a:rPr lang="hr-HR" smtClean="0"/>
              <a:t>3.1.2026.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A079A920-00F3-4EEC-8FD5-4A87016125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F7369-43B0-450B-97D3-3161061A6C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4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9665"/>
            <a:ext cx="3932237" cy="105319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010" y="587376"/>
            <a:ext cx="6172200" cy="533989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800">
                <a:solidFill>
                  <a:srgbClr val="474747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12471"/>
            <a:ext cx="3932237" cy="4114799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590B184A-8A12-46DC-858F-40BB764B6877}" type="datetime1">
              <a:rPr lang="hr-HR" smtClean="0"/>
              <a:t>3.1.2026.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57CFA1DC-DF2C-4C4F-8172-9DA3F1D03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4C87DC-AC6E-4A17-8A89-541F29D5E8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47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5993"/>
            <a:ext cx="3932237" cy="97404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7008812" cy="6041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9614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7267A5E9-C184-4225-B8DD-D288AF17D96D}" type="datetime1">
              <a:rPr lang="hr-HR" smtClean="0"/>
              <a:t>3.1.2026.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16F082B-19D2-4D9B-90A3-8B13759846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1C2487-E1A4-490B-ABD3-63931C723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8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9B807-777A-48C3-B248-E21A74284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40622" y="4469906"/>
            <a:ext cx="1036756" cy="755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94A5E-676A-49A4-AC3B-FDADD25A7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82" y="1414956"/>
            <a:ext cx="1036756" cy="755968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F62E0AC3-607C-436C-BF58-1272FE0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1680341"/>
            <a:ext cx="6096000" cy="305023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D3A8B4C-F64A-4192-97AE-9B3AD382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/>
          <a:lstStyle/>
          <a:p>
            <a:fld id="{86287E2A-7126-4C10-96F2-C7E41986C188}" type="datetime1">
              <a:rPr lang="hr-HR" smtClean="0"/>
              <a:t>3.1.2026.</a:t>
            </a:fld>
            <a:endParaRPr lang="hr-HR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7E85B49-A070-46FB-A986-B4333436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2F36DB-1174-4E85-9F97-D31B9B1F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011FCB-049E-4685-88DC-7CB69F627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5650" y="4847890"/>
            <a:ext cx="4562475" cy="495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4747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04D50A-555D-4946-8317-8EFE07552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3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8" y="284108"/>
            <a:ext cx="10764837" cy="1113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39614"/>
            <a:ext cx="10764836" cy="4619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71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52400" cy="3419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18317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obert" panose="00000500000000000000" pitchFamily="50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0000000000000" pitchFamily="34" charset="0"/>
        <a:buChar char="•"/>
        <a:defRPr sz="2800" kern="1200">
          <a:solidFill>
            <a:srgbClr val="47474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200" kern="1200">
          <a:solidFill>
            <a:schemeClr val="bg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000" kern="1200">
          <a:solidFill>
            <a:srgbClr val="4747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rgbClr val="4747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529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216">
          <p15:clr>
            <a:srgbClr val="F26B43"/>
          </p15:clr>
        </p15:guide>
        <p15:guide id="6" pos="7440">
          <p15:clr>
            <a:srgbClr val="F26B43"/>
          </p15:clr>
        </p15:guide>
        <p15:guide id="7" pos="384">
          <p15:clr>
            <a:srgbClr val="F26B43"/>
          </p15:clr>
        </p15:guide>
        <p15:guide id="8" orient="horz" pos="414">
          <p15:clr>
            <a:srgbClr val="F26B43"/>
          </p15:clr>
        </p15:guide>
        <p15:guide id="9" orient="horz" pos="1344">
          <p15:clr>
            <a:srgbClr val="F26B43"/>
          </p15:clr>
        </p15:guide>
        <p15:guide id="10" orient="horz" pos="1457">
          <p15:clr>
            <a:srgbClr val="F26B43"/>
          </p15:clr>
        </p15:guide>
        <p15:guide id="11" orient="horz" pos="3725">
          <p15:clr>
            <a:srgbClr val="F26B43"/>
          </p15:clr>
        </p15:guide>
        <p15:guide id="12" pos="3931">
          <p15:clr>
            <a:srgbClr val="F26B43"/>
          </p15:clr>
        </p15:guide>
        <p15:guide id="13" pos="7310">
          <p15:clr>
            <a:srgbClr val="F26B43"/>
          </p15:clr>
        </p15:guide>
        <p15:guide id="14" orient="horz" pos="39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8CC362-CA30-B04C-B73D-93C630C60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Gerstnerovi valovi</a:t>
            </a:r>
            <a:br>
              <a:rPr lang="hr-HR" dirty="0"/>
            </a:br>
            <a:r>
              <a:rPr lang="hr-HR" altLang="sr-Latn-RS" sz="3100" dirty="0">
                <a:solidFill>
                  <a:schemeClr val="tx1">
                    <a:lumMod val="65000"/>
                  </a:schemeClr>
                </a:solidFill>
              </a:rPr>
              <a:t>Projekt za kolegij Računalna Animacija (25./26.)</a:t>
            </a:r>
            <a:endParaRPr lang="en-HR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731C7D2-3033-0A4A-9E7F-39B21A7D3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58430"/>
            <a:ext cx="9144000" cy="1626137"/>
          </a:xfrm>
        </p:spPr>
        <p:txBody>
          <a:bodyPr>
            <a:normAutofit/>
          </a:bodyPr>
          <a:lstStyle/>
          <a:p>
            <a:pPr algn="l"/>
            <a:r>
              <a:rPr lang="hr-HR" dirty="0">
                <a:cs typeface="Arial"/>
              </a:rPr>
              <a:t>Napravio: Vito Vrbić</a:t>
            </a:r>
          </a:p>
          <a:p>
            <a:pPr algn="l"/>
            <a:endParaRPr lang="hr-HR" dirty="0">
              <a:cs typeface="Arial"/>
            </a:endParaRPr>
          </a:p>
          <a:p>
            <a:r>
              <a:rPr lang="hr-HR" sz="1800" dirty="0">
                <a:solidFill>
                  <a:schemeClr val="tx1">
                    <a:lumMod val="65000"/>
                  </a:schemeClr>
                </a:solidFill>
                <a:cs typeface="Arial"/>
              </a:rPr>
              <a:t>Zagreb, siječanj 2026.</a:t>
            </a:r>
          </a:p>
        </p:txBody>
      </p:sp>
      <p:pic>
        <p:nvPicPr>
          <p:cNvPr id="4" name="Picture 3" descr="D:\Mislav\Uprava_FER-a\Organizacija\UNIZG_vizualni_identitet\UniZg-Logo-Sastavnica_mg2.jpg">
            <a:extLst>
              <a:ext uri="{FF2B5EF4-FFF2-40B4-BE49-F238E27FC236}">
                <a16:creationId xmlns:a16="http://schemas.microsoft.com/office/drawing/2014/main" id="{3B9BAFA5-4D5F-7B8D-E93D-C97CA0DF8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071" y="5546616"/>
            <a:ext cx="120015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524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slov 2">
            <a:extLst>
              <a:ext uri="{FF2B5EF4-FFF2-40B4-BE49-F238E27FC236}">
                <a16:creationId xmlns:a16="http://schemas.microsoft.com/office/drawing/2014/main" id="{E687CC10-C248-472D-9EBC-87F27299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Gerstnerovi valovi – teorija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5E132D4B-F561-4555-AE87-5D80CCFC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</a:t>
            </a:fld>
            <a:endParaRPr lang="hr-HR"/>
          </a:p>
        </p:txBody>
      </p:sp>
      <p:sp>
        <p:nvSpPr>
          <p:cNvPr id="2" name="Podnaslov 1">
            <a:extLst>
              <a:ext uri="{FF2B5EF4-FFF2-40B4-BE49-F238E27FC236}">
                <a16:creationId xmlns:a16="http://schemas.microsoft.com/office/drawing/2014/main" id="{E9C1E3AA-6C3B-415E-8BB3-F8F65CE70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3200" dirty="0"/>
              <a:t>Val u kojem se čestice gibaju u svim smjerovima (ne samo u visini)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3200" dirty="0"/>
              <a:t>Val slabi s dubinom vode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3200" dirty="0"/>
              <a:t>Realističnost dolazi kombiniranjem više valova</a:t>
            </a:r>
          </a:p>
        </p:txBody>
      </p:sp>
    </p:spTree>
    <p:extLst>
      <p:ext uri="{BB962C8B-B14F-4D97-AF65-F5344CB8AC3E}">
        <p14:creationId xmlns:p14="http://schemas.microsoft.com/office/powerpoint/2010/main" val="188610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728EB1-79E5-4BA1-8371-D8C092D2D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944" y="1828801"/>
            <a:ext cx="5244647" cy="40785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Implementirano kao kombinacija </a:t>
            </a:r>
            <a:r>
              <a:rPr lang="hr-HR" sz="2400" dirty="0" err="1"/>
              <a:t>Unity</a:t>
            </a:r>
            <a:r>
              <a:rPr lang="hr-HR" sz="2400" dirty="0"/>
              <a:t> </a:t>
            </a:r>
            <a:r>
              <a:rPr lang="hr-HR" sz="2400" dirty="0" err="1"/>
              <a:t>Shader</a:t>
            </a:r>
            <a:r>
              <a:rPr lang="hr-HR" sz="2400" dirty="0"/>
              <a:t> </a:t>
            </a:r>
            <a:r>
              <a:rPr lang="hr-HR" sz="2400" dirty="0" err="1"/>
              <a:t>Graph</a:t>
            </a:r>
            <a:r>
              <a:rPr lang="hr-HR" sz="2400" dirty="0"/>
              <a:t> oblika sjenčara i HLSL funkcija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3 vala za koja se računa pozicija, a zatim se vrijednosti pozicija svakog vala zbrajaju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34D375-6A52-41DD-A07D-A103CAB3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44" y="504537"/>
            <a:ext cx="5243783" cy="1324264"/>
          </a:xfrm>
        </p:spPr>
        <p:txBody>
          <a:bodyPr/>
          <a:lstStyle/>
          <a:p>
            <a:r>
              <a:rPr lang="hr-HR" dirty="0"/>
              <a:t>Gerstnerovi valovi – vizualizacija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3</a:t>
            </a:fld>
            <a:endParaRPr lang="hr-H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61692-8EC0-4B75-8A61-721FA740C1C0}"/>
              </a:ext>
            </a:extLst>
          </p:cNvPr>
          <p:cNvSpPr/>
          <p:nvPr/>
        </p:nvSpPr>
        <p:spPr>
          <a:xfrm>
            <a:off x="6749144" y="133061"/>
            <a:ext cx="5442856" cy="6567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float2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normalize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direction.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xz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k = frequency;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w = k * speed;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phase = k *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dot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world_pos.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xz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 + w * TIME;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cosP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(phase);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sinP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(phase);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// Horizontal displacement (XZ).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float2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horizontal = peak * height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cosP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// Vertical displacement.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vertical = height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sinP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Position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float3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(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world_pos.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+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horizontal.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vertical,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world_pos.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z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+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horizontal.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y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);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32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728EB1-79E5-4BA1-8371-D8C092D2D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944" y="1828801"/>
            <a:ext cx="5244647" cy="40785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Računanje normale je aproksimacija gdje se računa normala za svaki val te radi normirana kombinacija rezultata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Pomicanjem kamere se pomiče objekt ravnine na kojoj se prikazuju valovi kako bi se dobio efekt beskrajnog oceana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Pri prikazu uzima se globalna pozicija svakog vrha pa pomicanje ravnine u svijetu funkcionira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34D375-6A52-41DD-A07D-A103CAB3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44" y="504537"/>
            <a:ext cx="5243783" cy="1324264"/>
          </a:xfrm>
        </p:spPr>
        <p:txBody>
          <a:bodyPr/>
          <a:lstStyle/>
          <a:p>
            <a:r>
              <a:rPr lang="hr-HR" dirty="0"/>
              <a:t>Gerstnerovi valovi – vizualizacija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4</a:t>
            </a:fld>
            <a:endParaRPr lang="hr-H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93019E-F444-4ED6-955A-AA97E7BB8DFC}"/>
              </a:ext>
            </a:extLst>
          </p:cNvPr>
          <p:cNvSpPr/>
          <p:nvPr/>
        </p:nvSpPr>
        <p:spPr>
          <a:xfrm>
            <a:off x="6238875" y="504537"/>
            <a:ext cx="6096000" cy="56712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float2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normalize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direction.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xz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k = frequency;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w = k * speed;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phase = k *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dot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world_pos.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xz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 + w * TIME;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cosP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(phase);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sinP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(phase);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// Partial derivatives (tangent vectors).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float3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tangentX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float3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(1,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* height * k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cosP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 0) - peak * height * k *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float3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 0,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sinP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float3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tangentZ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float3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(0,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* height * k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cosP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 1) - peak * height * k *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float3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 0,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dir.</a:t>
            </a:r>
            <a:r>
              <a:rPr lang="en-US" sz="1200" dirty="0" err="1">
                <a:solidFill>
                  <a:srgbClr val="8B00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 *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sinP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// Normal = cross product of tangent vectors.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Normal = 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normalize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8B8B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cross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tangentZ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tangentX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934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5</a:t>
            </a:fld>
            <a:endParaRPr lang="hr-H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07F0D-A452-4D2D-B7B2-28A189D74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9075" y="0"/>
            <a:ext cx="13223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1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6</a:t>
            </a:fld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DC1CF-ABD7-4B1B-B0C9-A859B57E3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5844" y="0"/>
            <a:ext cx="13332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4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7</a:t>
            </a:fld>
            <a:endParaRPr lang="hr-H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28B55-5104-4B55-98DE-4EA79A77F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448" y="-12669"/>
            <a:ext cx="13332287" cy="68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728EB1-79E5-4BA1-8371-D8C092D2D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944" y="1828801"/>
            <a:ext cx="5244647" cy="40785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Uzorkovanje površine valova u 4 točke (po objektu) pomoću aproksimacije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Aproksimacija je iterativni algoritam traženja originalne pozicije XZ koja rezultira XZ pozicijom uzorkovanja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400" dirty="0"/>
              <a:t>Konstrukcija Eulerovih kutova za svaki plutajući objekt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34D375-6A52-41DD-A07D-A103CAB3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44" y="504537"/>
            <a:ext cx="5243783" cy="1324264"/>
          </a:xfrm>
        </p:spPr>
        <p:txBody>
          <a:bodyPr/>
          <a:lstStyle/>
          <a:p>
            <a:r>
              <a:rPr lang="hr-HR" dirty="0"/>
              <a:t>Gerstnerovi valovi – interakcija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8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96739B-89EF-4061-83F2-3A5F0FE4F10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025" y="504537"/>
            <a:ext cx="5313056" cy="34080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99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9</a:t>
            </a:fld>
            <a:endParaRPr lang="hr-H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28B55-5104-4B55-98DE-4EA79A77F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69"/>
            <a:ext cx="12192000" cy="68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4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10</a:t>
            </a:fld>
            <a:endParaRPr lang="hr-H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28B55-5104-4B55-98DE-4EA79A77F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27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AC08F-93D2-4C5F-BCAE-B6D9570EFB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11</a:t>
            </a:fld>
            <a:endParaRPr lang="hr-H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28B55-5104-4B55-98DE-4EA79A77F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13"/>
            <a:ext cx="12192000" cy="685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989"/>
      </p:ext>
    </p:extLst>
  </p:cSld>
  <p:clrMapOvr>
    <a:masterClrMapping/>
  </p:clrMapOvr>
</p:sld>
</file>

<file path=ppt/theme/theme1.xml><?xml version="1.0" encoding="utf-8"?>
<a:theme xmlns:a="http://schemas.openxmlformats.org/drawingml/2006/main" name="FER_Light">
  <a:themeElements>
    <a:clrScheme name="FER1">
      <a:dk1>
        <a:srgbClr val="02000D"/>
      </a:dk1>
      <a:lt1>
        <a:srgbClr val="FFFFFF"/>
      </a:lt1>
      <a:dk2>
        <a:srgbClr val="00003F"/>
      </a:dk2>
      <a:lt2>
        <a:srgbClr val="ECB000"/>
      </a:lt2>
      <a:accent1>
        <a:srgbClr val="5B9BD5"/>
      </a:accent1>
      <a:accent2>
        <a:srgbClr val="E5681B"/>
      </a:accent2>
      <a:accent3>
        <a:srgbClr val="92D050"/>
      </a:accent3>
      <a:accent4>
        <a:srgbClr val="FFC000"/>
      </a:accent4>
      <a:accent5>
        <a:srgbClr val="2F5496"/>
      </a:accent5>
      <a:accent6>
        <a:srgbClr val="538135"/>
      </a:accent6>
      <a:hlink>
        <a:srgbClr val="4472C4"/>
      </a:hlink>
      <a:folHlink>
        <a:srgbClr val="954F72"/>
      </a:folHlink>
    </a:clrScheme>
    <a:fontScheme name="Roobert">
      <a:majorFont>
        <a:latin typeface="Roobert bold"/>
        <a:ea typeface=""/>
        <a:cs typeface=""/>
      </a:majorFont>
      <a:minorFont>
        <a:latin typeface="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F4A78737296D44B9C0FDA063D431BDD" ma:contentTypeVersion="12" ma:contentTypeDescription="Stvaranje novog dokumenta." ma:contentTypeScope="" ma:versionID="5505016d88c2a2c2e94c43cb1a42ccef">
  <xsd:schema xmlns:xsd="http://www.w3.org/2001/XMLSchema" xmlns:xs="http://www.w3.org/2001/XMLSchema" xmlns:p="http://schemas.microsoft.com/office/2006/metadata/properties" xmlns:ns2="6a5cec3c-b857-4d55-a661-1a8fdc8fcb3c" xmlns:ns3="37ec1f5e-67c4-41fc-8f61-d37ccb2c36a1" targetNamespace="http://schemas.microsoft.com/office/2006/metadata/properties" ma:root="true" ma:fieldsID="d67f394a37e9e525bab642c8b2e81708" ns2:_="" ns3:_="">
    <xsd:import namespace="6a5cec3c-b857-4d55-a661-1a8fdc8fcb3c"/>
    <xsd:import namespace="37ec1f5e-67c4-41fc-8f61-d37ccb2c36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5cec3c-b857-4d55-a661-1a8fdc8fcb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ec1f5e-67c4-41fc-8f61-d37ccb2c36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Zajednički se koristi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ji o zajedničkom korištenju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FBDF57-F604-4647-A6CF-70CDC37C9C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389E1F-108A-4E97-A066-6DC7E134E74F}">
  <ds:schemaRefs>
    <ds:schemaRef ds:uri="37ec1f5e-67c4-41fc-8f61-d37ccb2c36a1"/>
    <ds:schemaRef ds:uri="6a5cec3c-b857-4d55-a661-1a8fdc8fcb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D1F5157-3899-4EC7-8C94-B90B2C6E4F3C}">
  <ds:schemaRefs>
    <ds:schemaRef ds:uri="37ec1f5e-67c4-41fc-8f61-d37ccb2c36a1"/>
    <ds:schemaRef ds:uri="6a5cec3c-b857-4d55-a661-1a8fdc8fcb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502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Cascadia Mono</vt:lpstr>
      <vt:lpstr>Roobert</vt:lpstr>
      <vt:lpstr>FER_Light</vt:lpstr>
      <vt:lpstr>Gerstnerovi valovi Projekt za kolegij Računalna Animacija (25./26.)</vt:lpstr>
      <vt:lpstr>Gerstnerovi valovi – teorija</vt:lpstr>
      <vt:lpstr>Gerstnerovi valovi – vizualizacija</vt:lpstr>
      <vt:lpstr>Gerstnerovi valovi – vizualizacija</vt:lpstr>
      <vt:lpstr>PowerPoint Presentation</vt:lpstr>
      <vt:lpstr>PowerPoint Presentation</vt:lpstr>
      <vt:lpstr>PowerPoint Presentation</vt:lpstr>
      <vt:lpstr>Gerstnerovi valovi – interakcija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Proin gravida nibh vel velit auctor aliquet. Aenean sollicitudin,</dc:title>
  <dc:creator>mislav.ucovic@gmail.com</dc:creator>
  <cp:lastModifiedBy>Vito Vrbić</cp:lastModifiedBy>
  <cp:revision>19</cp:revision>
  <cp:lastPrinted>2021-01-13T09:31:57Z</cp:lastPrinted>
  <dcterms:created xsi:type="dcterms:W3CDTF">2020-04-30T08:26:07Z</dcterms:created>
  <dcterms:modified xsi:type="dcterms:W3CDTF">2026-01-03T12:09:24Z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0x0101005F4A78737296D44B9C0FDA063D431BDD</vt:lpwstr>
  </property>
</Properties>
</file>